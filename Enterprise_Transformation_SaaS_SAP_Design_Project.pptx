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17"/>
  </p:notesMasterIdLst>
  <p:handoutMasterIdLst>
    <p:handoutMasterId r:id="rId18"/>
  </p:handoutMasterIdLst>
  <p:sldIdLst>
    <p:sldId id="507" r:id="rId2"/>
    <p:sldId id="1027" r:id="rId3"/>
    <p:sldId id="1012" r:id="rId4"/>
    <p:sldId id="1013" r:id="rId5"/>
    <p:sldId id="1014" r:id="rId6"/>
    <p:sldId id="1015" r:id="rId7"/>
    <p:sldId id="1034" r:id="rId8"/>
    <p:sldId id="1036" r:id="rId9"/>
    <p:sldId id="1037" r:id="rId10"/>
    <p:sldId id="1011" r:id="rId11"/>
    <p:sldId id="1026" r:id="rId12"/>
    <p:sldId id="1033" r:id="rId13"/>
    <p:sldId id="1038" r:id="rId14"/>
    <p:sldId id="1039" r:id="rId15"/>
    <p:sldId id="1025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2"/>
  </p:normalViewPr>
  <p:slideViewPr>
    <p:cSldViewPr snapToGrid="0">
      <p:cViewPr varScale="1">
        <p:scale>
          <a:sx n="84" d="100"/>
          <a:sy n="84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Team Members: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defRPr/>
            </a:pPr>
            <a:r>
              <a:rPr lang="en-IN" dirty="0">
                <a:ea typeface="+mn-lt"/>
                <a:cs typeface="+mn-lt"/>
              </a:rPr>
              <a:t>1. 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Rishi Kumar - 2411021060413</a:t>
            </a:r>
            <a:endParaRPr lang="en-IN" sz="2800" dirty="0">
              <a:latin typeface="Times New Roman"/>
              <a:cs typeface="Times New Roman"/>
            </a:endParaRPr>
          </a:p>
          <a:p>
            <a:pPr lvl="1" algn="just">
              <a:defRPr/>
            </a:pPr>
            <a:r>
              <a:rPr lang="en-IN" dirty="0">
                <a:ea typeface="+mn-lt"/>
                <a:cs typeface="+mn-lt"/>
              </a:rPr>
              <a:t>2.</a:t>
            </a:r>
            <a:r>
              <a:rPr lang="en-IN" dirty="0">
                <a:latin typeface="Times New Roman"/>
                <a:ea typeface="+mn-lt"/>
                <a:cs typeface="Times New Roman"/>
              </a:rPr>
              <a:t> Aarushi Joshi - 2411021060577</a:t>
            </a:r>
            <a:endParaRPr lang="en-IN" dirty="0">
              <a:latin typeface="Calibri"/>
              <a:cs typeface="Calibri"/>
            </a:endParaRPr>
          </a:p>
          <a:p>
            <a:pPr lvl="1" algn="just">
              <a:defRPr/>
            </a:pPr>
            <a:r>
              <a:rPr lang="en-IN" dirty="0">
                <a:cs typeface="Calibri"/>
              </a:rPr>
              <a:t>3. Pradyumn Bisen - 2411021060368</a:t>
            </a:r>
          </a:p>
          <a:p>
            <a:pPr lvl="1" algn="just">
              <a:defRPr/>
            </a:pPr>
            <a:r>
              <a:rPr lang="en-IN" dirty="0">
                <a:latin typeface="Times New Roman"/>
                <a:cs typeface="Times New Roman"/>
              </a:rPr>
              <a:t>4. </a:t>
            </a:r>
            <a:r>
              <a:rPr lang="en-US" dirty="0">
                <a:latin typeface="Times New Roman"/>
                <a:cs typeface="Times New Roman"/>
              </a:rPr>
              <a:t>Akshayadevi </a:t>
            </a:r>
            <a:r>
              <a:rPr lang="en-US" dirty="0"/>
              <a:t>K - 2411021061046</a:t>
            </a:r>
            <a:endParaRPr lang="en-IN" dirty="0">
              <a:latin typeface="Times New Roman"/>
              <a:cs typeface="Times New Roman"/>
            </a:endParaRPr>
          </a:p>
          <a:p>
            <a:pPr lvl="1" algn="just">
              <a:defRPr/>
            </a:pPr>
            <a:endParaRPr lang="en-IN" dirty="0">
              <a:latin typeface="Times New Roman"/>
              <a:cs typeface="Times New Roman"/>
            </a:endParaRP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Name of the Mentor:  Dr. T Prashant</a:t>
            </a:r>
            <a:endParaRPr lang="en-IN" sz="3200" dirty="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3200" dirty="0">
                <a:latin typeface="Bookman Old Style"/>
              </a:rPr>
              <a:t>E1CSA313/E1ITA306 Design Project -1 </a:t>
            </a:r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6346663" cy="7491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Transformation Framework for Scalable SaaS Adoption and Sustainable Digital Business Evolution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Enterprise digital transformation requires a structured approach for scalable SaaS adoption and long-term business evolution.</a:t>
            </a:r>
            <a:endParaRPr lang="en-IN" sz="2400" dirty="0"/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SaaS provides flexible cloud-based solutions that can reduce dependence on traditional on-premise systems.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Enterprises often use multiple platforms such as SAP, Salesforce, ServiceNow and Microsoft 365 across different functions.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Adopting multiple SaaS solutions creates challenges in integration, security, cost, scalability and migration planning.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A unified framework can support SaaS evaluation, risk analysis, recommendation and phased transformation planning.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The proposed solution uses SAP BTP with SAPUI5/Fiori, SAP CAP and SAP HANA Cloud as the development platform.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7703" y="1135626"/>
          <a:ext cx="9528047" cy="4878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484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0000"/>
                          </a:solidFill>
                          <a:latin typeface="Times New Roman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0000"/>
                          </a:solidFill>
                          <a:latin typeface="Times New Roman"/>
                        </a:rPr>
                        <a:t>Author / Journal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0000"/>
                          </a:solidFill>
                          <a:latin typeface="Times New Roman"/>
                        </a:rPr>
                        <a:t>Research /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0000"/>
                          </a:solidFill>
                          <a:latin typeface="Times New Roman"/>
                        </a:rPr>
                        <a:t>Performance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0000"/>
                          </a:solidFill>
                          <a:latin typeface="Times New Roman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00000"/>
                          </a:solidFill>
                          <a:latin typeface="Times New Roman"/>
                        </a:rPr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K. Ramchand, M. B. Chhetri, R. Kowalczyk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J. Cloud Computing,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Application Portfolio Profiling + Portfolio Assessment; CCCC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Migration cost / affordability; portfolio suitability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Links cloud readiness with cost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Needs detailed application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S. Shuraida, R. Titah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Technology in Society,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Comparison of adopting and non-adopting firms; adoption decision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Adoption drivers; role of inertia and perceived benefits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Shows organizational decision behaviour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Decision context may vary by firm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V. Christiansen, M. Haddara, M. Langseth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Procedia Computer Science,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Systematic literature review using DOI and TOE frameworks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13 major cloud-ERP adoption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Combines technology, organization and environment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Broad review; not a working selection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M. Haddara, S. Gøthesen, M. Langseth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Procedia Computer Science,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Literature review of cloud-ERP challenges across adoption 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Customization, reliability, security, change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Highlights implementation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Focused mainly on SME cloud-ERP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O. Zide, O. Jokonya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Procedia Computer Science,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Systematic review + quantitative content analysis using TOE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Security, cost and regulation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Identifies recurring adoption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Focused on DMaaS rather than multi-SaaS transformation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R. Guo, A. Tafti, R. Subramanyam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Electronic Commerce Research,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Empirical study of 457 firms on internal IT modularity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Relationship between IT modularity and cloud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Connects internal architecture to adoption readiness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Does not provide a migration planning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M. H. Hasan, M. H. Osman, N. I. Admodisastro, M. S. Muhammad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Journal of Systems and Software,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Systematic literature review of legacy-to-cloud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Pre-, during- and post-migration concerns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Highlights architecture and quality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Quality considerations remain incomplete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P. Rohit, S. K. De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Information and Software Technology,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Graph-based dependency discovery and phase-wise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Application clusters; migration sequence;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Supports phased migration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Requires application dependency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M. Fahmideh, J. Grundy, G. Beydoun, D. Zowghi, W. Susilo, D. Mougouei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Information and Software Technology,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Model-driven framework for legacy reengineering to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Method coverage; scenario-based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Supports consistent reengineering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Framework tailoring adds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T. R. Merlo, F. Fard, S. Hawamdeh</a:t>
                      </a:r>
                    </a:p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Sustainability,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Mixed-methods study using SLR + enterprise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Cloud readiness, privacy/security, sustainability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Connects cloud adoption with digital transformation and sustainability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25">
                          <a:solidFill>
                            <a:srgbClr val="000000"/>
                          </a:solidFill>
                          <a:latin typeface="Times New Roman"/>
                        </a:rPr>
                        <a:t>Calls for further work on long-term preservation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50" b="0" dirty="0">
                <a:solidFill>
                  <a:srgbClr val="000000"/>
                </a:solidFill>
                <a:latin typeface="Times New Roman"/>
              </a:rPr>
              <a:t>• Cloud/SaaS adoption depends on more than technical capability; organizational and environmental factors also matter.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50" b="0" dirty="0">
                <a:solidFill>
                  <a:srgbClr val="000000"/>
                </a:solidFill>
                <a:latin typeface="Times New Roman"/>
              </a:rPr>
              <a:t>• Security, cost, vendor lock-in, data access and integration repeatedly appear as important decision factors.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50" b="0" dirty="0">
                <a:solidFill>
                  <a:srgbClr val="000000"/>
                </a:solidFill>
                <a:latin typeface="Times New Roman"/>
              </a:rPr>
              <a:t>• Application portfolio assessment and early cost analysis can reduce migration delays and unexpected expenditure.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50" b="0" dirty="0">
                <a:solidFill>
                  <a:srgbClr val="000000"/>
                </a:solidFill>
                <a:latin typeface="Times New Roman"/>
              </a:rPr>
              <a:t>• Legacy migration research supports phased planning and dependency analysis before moving applications.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50" b="0" dirty="0">
                <a:solidFill>
                  <a:srgbClr val="000000"/>
                </a:solidFill>
                <a:latin typeface="Times New Roman"/>
              </a:rPr>
              <a:t>• Digital transformation research highlights cross-functional coordination and organizational complexity.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50" b="0" dirty="0">
                <a:solidFill>
                  <a:srgbClr val="000000"/>
                </a:solidFill>
                <a:latin typeface="Times New Roman"/>
              </a:rPr>
              <a:t>• Sustainability and long-term data management are increasingly considered alongside cloud adoption.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Many studies focus on a single area such as adoption, migration, security or cost rather than the complete transformation lifecycle.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SaaS selection and cloud migration are often treated as separate decision problems.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Several frameworks are designed for a specific application type, organization size or migration context.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Multi-SaaS integration, vendor dependency and post-migration monitoring are not consistently combined in one</a:t>
            </a:r>
            <a:r>
              <a:rPr lang="en-IN" sz="172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20" b="0" dirty="0">
                <a:solidFill>
                  <a:srgbClr val="000000"/>
                </a:solidFill>
                <a:latin typeface="Times New Roman"/>
              </a:rPr>
              <a:t>framework.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There is limited practical decision support that connects enterprise requirements to transparent SaaS scoring and a phased roadmap.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These gaps motivate an integrated, enterprise-level SaaS transformation framework.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/>
            </a:pPr>
            <a:r>
              <a:rPr sz="1900" b="1" dirty="0">
                <a:solidFill>
                  <a:srgbClr val="000000"/>
                </a:solidFill>
                <a:latin typeface="Times New Roman"/>
              </a:rPr>
              <a:t>Problem Statement</a:t>
            </a:r>
            <a:endParaRPr lang="en-IN" sz="1900" b="1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/>
            </a:pPr>
            <a:r>
              <a:rPr lang="en-IN" sz="1750" dirty="0"/>
              <a:t>Companies want to switch to new computer programs, but it's confusing to pick the right ones and do it safely — so our project makes a simple step-by-step plan to help them do it the right way.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endParaRPr lang="en-IN" sz="1900" b="1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900" b="1" dirty="0">
                <a:solidFill>
                  <a:srgbClr val="000000"/>
                </a:solidFill>
                <a:latin typeface="Times New Roman"/>
              </a:rPr>
              <a:t>Scope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sz="1750" b="0" dirty="0">
                <a:solidFill>
                  <a:srgbClr val="000000"/>
                </a:solidFill>
                <a:latin typeface="Times New Roman"/>
              </a:rPr>
              <a:t>• Enterprise profile and current-system assessment</a:t>
            </a:r>
            <a:br>
              <a:rPr dirty="0"/>
            </a:br>
            <a:r>
              <a:rPr sz="1750" b="0" dirty="0">
                <a:solidFill>
                  <a:srgbClr val="000000"/>
                </a:solidFill>
                <a:latin typeface="Times New Roman"/>
              </a:rPr>
              <a:t>• SaaS catalog and weighted evaluation</a:t>
            </a:r>
            <a:br>
              <a:rPr dirty="0"/>
            </a:br>
            <a:r>
              <a:rPr sz="1750" b="0" dirty="0">
                <a:solidFill>
                  <a:srgbClr val="000000"/>
                </a:solidFill>
                <a:latin typeface="Times New Roman"/>
              </a:rPr>
              <a:t>• Cost and risk analysis</a:t>
            </a:r>
            <a:br>
              <a:rPr dirty="0"/>
            </a:br>
            <a:r>
              <a:rPr sz="1750" b="0" dirty="0">
                <a:solidFill>
                  <a:srgbClr val="000000"/>
                </a:solidFill>
                <a:latin typeface="Times New Roman"/>
              </a:rPr>
              <a:t>• Recommendation and migration planning</a:t>
            </a:r>
            <a:br>
              <a:rPr dirty="0"/>
            </a:br>
            <a:r>
              <a:rPr sz="1750" b="0" dirty="0">
                <a:solidFill>
                  <a:srgbClr val="000000"/>
                </a:solidFill>
                <a:latin typeface="Times New Roman"/>
              </a:rPr>
              <a:t>• Dashboard/report generation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An SAP-based Enterprise SaaS Transformation Platform will collect an organization’s profile and current IT environment through SAPUI5/Fiori.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SAP CAP services will process assessment data and connect the application to SAP HANA Cloud.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A SaaS evaluation engine will compare products such as Microsoft 365, Salesforce, SAP solutions and ServiceNow against weighted business requirements.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The platform will analyze cost, security, integration and migration risks and generate a recommendation with reasons.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A transformation planner will convert the assessment into phases such as assessment, SaaS selection, pilot, migration, integration, deployment and monitoring.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The final dashboard will present readiness, recommended SaaS options, risk level and migration roadmap.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  <a:defRPr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To develop an enterprise assessment module for capturing business, technical and security requirements.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To create a SaaS catalog covering major enterprise platforms and their relevant capabilities.</a:t>
            </a: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To implement a transparent weighted scoring model for SaaS evaluation and recommendation.</a:t>
            </a: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To identify cost, security, integration, migration and vendor-dependency risks.</a:t>
            </a: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To generate a phased transformation roadmap based on enterprise requirements and dependencies.</a:t>
            </a: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To present the assessment and recommendations through an SAPUI5/Fiori dashboard backed by SAP HANA Cloud.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  <a:defRPr/>
            </a:pPr>
            <a:r>
              <a:rPr sz="1550" b="0" dirty="0">
                <a:solidFill>
                  <a:srgbClr val="000000"/>
                </a:solidFill>
                <a:latin typeface="Times New Roman"/>
              </a:rPr>
              <a:t>1. Requirement Analysis – identify enterprise, SaaS and transformation requirements.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50" b="0" dirty="0">
                <a:solidFill>
                  <a:srgbClr val="000000"/>
                </a:solidFill>
                <a:latin typeface="Times New Roman"/>
              </a:rPr>
              <a:t>2. Enterprise Assessment – collect current systems, budget, growth, security and integration needs.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50" b="0" dirty="0">
                <a:solidFill>
                  <a:srgbClr val="000000"/>
                </a:solidFill>
                <a:latin typeface="Times New Roman"/>
              </a:rPr>
              <a:t>3. SaaS Evaluation – apply weighted criteria to catalogued SaaS products.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50" b="0" dirty="0">
                <a:solidFill>
                  <a:srgbClr val="000000"/>
                </a:solidFill>
                <a:latin typeface="Times New Roman"/>
              </a:rPr>
              <a:t>4. Risk Analysis – security, integration, migration and vendor dependency.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50" b="0" dirty="0">
                <a:solidFill>
                  <a:srgbClr val="000000"/>
                </a:solidFill>
                <a:latin typeface="Times New Roman"/>
              </a:rPr>
              <a:t>5. Transformation Planning – generate a phased migration and adoption roadmap.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50" b="0" dirty="0">
                <a:solidFill>
                  <a:srgbClr val="000000"/>
                </a:solidFill>
                <a:latin typeface="Times New Roman"/>
              </a:rPr>
              <a:t>6. Implementation – build the solution on SAP BTP using SAPUI5/Fiori, CAP and HANA Cloud.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50" b="0" dirty="0">
                <a:solidFill>
                  <a:srgbClr val="000000"/>
                </a:solidFill>
                <a:latin typeface="Times New Roman"/>
              </a:rPr>
              <a:t>7. Testing &amp; Evaluation – validate recommendation logic, data consistency, response time and </a:t>
            </a:r>
            <a:endParaRPr lang="en-IN" sz="1550" dirty="0">
              <a:solidFill>
                <a:srgbClr val="000000"/>
              </a:solidFill>
              <a:latin typeface="Times New Roman"/>
            </a:endParaRP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550" b="0" dirty="0">
                <a:solidFill>
                  <a:srgbClr val="000000"/>
                </a:solidFill>
                <a:latin typeface="Times New Roman"/>
              </a:rPr>
              <a:t>    </a:t>
            </a:r>
            <a:r>
              <a:rPr sz="1550" b="0" dirty="0">
                <a:solidFill>
                  <a:srgbClr val="000000"/>
                </a:solidFill>
                <a:latin typeface="Times New Roman"/>
              </a:rPr>
              <a:t>report generation.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  <p:pic>
        <p:nvPicPr>
          <p:cNvPr id="6" name="Picture 5" descr="technical_architectur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048" y="749077"/>
            <a:ext cx="2919204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1012" y="580497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SAP-based technical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Development laptop/desktop with Intel Core i5 / equivalent or higher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Minimum 8 GB RAM; 16 GB recommended for SAP development tools</a:t>
            </a:r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At least 256 GB SSD with sufficient free space for development tools and local project files</a:t>
            </a:r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Stable broadband/Wi-Fi connection for SAP BTP and HANA Cloud services</a:t>
            </a:r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Modern display and browser for SAPUI5/Fiori testing</a:t>
            </a:r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Times New Roman"/>
              </a:rPr>
              <a:t>• Optional cloud/server resources are handled through SAP BTP rather than local deployment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SAP Business Technology Platform (BTP) – cloud platform for application development and deployment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SAPUI5 / SAP Fiori – frontend for enterprise forms, dashboards and reports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SAP Cloud Application Programming Model (CAP) – backend services and business logic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SAP HANA Cloud – persistent storage for enterprise, SaaS, assessment, risk and recommendation data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SAP Business Application Studio – development environment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SAP Integration Suite – optional extension for connecting external SaaS platforms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720" b="0" dirty="0">
                <a:solidFill>
                  <a:srgbClr val="000000"/>
                </a:solidFill>
                <a:latin typeface="Times New Roman"/>
              </a:rPr>
              <a:t>• Git / GitHub and Postman – version control and API testing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6396C8-E2F5-DB41-7F32-97AA6CD8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Process 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1. Start / Login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2. Capture enterprise profile and requirements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3. Assign weights for cost, security, scalability, integration and features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4. Evaluate SaaS products from the catalog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5. Analyze cost and risk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6. Generate recommendation and reason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7. Create transformation plan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20" b="0">
                <a:solidFill>
                  <a:srgbClr val="000000"/>
                </a:solidFill>
                <a:latin typeface="Times New Roman"/>
              </a:rPr>
              <a:t>8. Display dashboard / report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pic>
        <p:nvPicPr>
          <p:cNvPr id="6" name="Picture 5" descr="saas_selection_flow_compo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60704"/>
            <a:ext cx="6903720" cy="585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1. User &amp; Admin Management – login, roles and basic access control.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2. Enterprise Profile &amp; Assessment – company size, systems, budget, growth and requirements.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3. SaaS Product Catalog – products, categories, capabilities and evaluation criteria.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4. SaaS Evaluation Engine – weighted scoring across cost, security, scalability, integration and features.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5. Cost &amp; Risk Analysis – migration complexity, security risk, vendor dependency and integration risk.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6. Recommendation Engine – compatibility score and explanation of the recommendation.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7. Transformation Planner – phased roadmap from assessment to monitoring.</a:t>
            </a:r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60" b="0" dirty="0">
                <a:solidFill>
                  <a:srgbClr val="000000"/>
                </a:solidFill>
                <a:latin typeface="Times New Roman"/>
              </a:rPr>
              <a:t>8. Dashboard &amp; Reports – readiness score, recommendations, risk summary and roadmap.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[1] Ramchand, K., Chhetri, M. B., &amp; Kowalczyk, R. (2021). Enterprise adoption of cloud computing with application portfolio profiling and application portfolio assessment. Journal of Cloud Computing, 10, 1. DOI: 10.1186/s13677-020-00210-w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[2]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Shuraida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S., &amp;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Titah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R. (2023). An examination of cloud computing adoption decisions: Rational choice or cognitive bias? Technology in Society, 74, 102284. DOI: 10.1016/j.techsoc.2023.102284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[3] Christiansen, V.,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Haddara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M., &amp; Langseth, M. (2022). Factors Affecting Cloud ERP Adoption Decisions in Organizations. Procedia Computer Science, 196, 255–262. DOI: 10.1016/j.procs.2021.12.012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[4]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Haddara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M.,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Gøthesen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S., &amp; Langseth, M. (2022). Challenges of Cloud-ERP Adoptions in SMEs. Procedia Computer Science, 196, 973–981. DOI: 10.1016/j.procs.2021.12.099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[5] Zide, O., &amp; Jokonya, O. (2022). Factors affecting the adoption of Data Management as a Service (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DMaaS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) in SMEs. Procedia Computer Science, 196, 340–347. DOI: 10.1016/j.procs.2021.12.022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[6] Guo, R.,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Tafti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A., &amp; Subramanyam, R. (2025). Internal IT modularity, firm size, and adoption of cloud computing. Electronic Commerce Research, 25(1), 319–348. DOI: 10.1007/s10660-023-09691-8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[7] Hasan, M. H., Osman, M. H.,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Admodisastro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N. I., &amp; Muhammad, M. S. (2023). Legacy systems to cloud migration: a review from the architectural perspective. Journal of Systems and Software, 202, 111702. DOI: 10.1016/j.jss.2023.111702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[8] Rohit, P., &amp; De, S. K. (2021). Phase-wise migration of multiple legacy applications – A graph-theoretic approach. Information and Software Technology, 137, 106606. DOI: 10.1016/j.infsof.2021.106606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[9] Fahmideh, M., Grundy, J., Beydoun, G.,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Zowghi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D., Susilo, W., &amp;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Mougouei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D. (2022). A model-driven approach to reengineering processes in cloud computing. Information and Software Technology, 144, 106795. DOI: 10.1016/j.infsof.2021.106795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[10] Merlo, T. R., Fard, F., &amp;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Hawamdeh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, S. (2025). Cloud Computing’s Impact on the Digital Transformation of the Enterprise: A Mixed-Methods Approach. Sustainability, 17(13), 5755. DOI: 10.3390/su17135755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[11] SAP Developer Center. (2026). Introduction to Application Development Using CAP; SAP BTP, SAPUI5/Fiori and SAP Business Application Studio documentation.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[12] SAP Help Portal. (2026). SAP Business Technology Platform Developer Guide; SAP Cloud Application Programming Model; SAP HANA Cloud documentation.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</TotalTime>
  <Words>2234</Words>
  <Application>Microsoft Office PowerPoint</Application>
  <PresentationFormat>Widescreen</PresentationFormat>
  <Paragraphs>198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References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rishi kumar</cp:lastModifiedBy>
  <cp:revision>26</cp:revision>
  <cp:lastPrinted>2020-11-26T03:04:06Z</cp:lastPrinted>
  <dcterms:created xsi:type="dcterms:W3CDTF">2008-12-05T06:42:08Z</dcterms:created>
  <dcterms:modified xsi:type="dcterms:W3CDTF">2026-09-26T12:07:58Z</dcterms:modified>
</cp:coreProperties>
</file>